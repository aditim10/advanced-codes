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D5C4"/>
                </a:solidFill>
                <a:latin typeface="Helvetica Neue"/>
              </a:rPr>
              <a:t>PROJECT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Helvetica Neue"/>
              </a:rPr>
              <a:t>AnimeApp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F2F4FB"/>
                </a:solidFill>
                <a:latin typeface="Helvetica Neue"/>
              </a:rPr>
              <a:t>What We Built &amp; 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A9B2D0"/>
                </a:solidFill>
                <a:latin typeface="Helvetica Neue"/>
              </a:rPr>
              <a:t>A native iOS anime app — from concept to a polished, tested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D5C4"/>
                </a:solidFill>
                <a:latin typeface="Helvetica Neue"/>
              </a:rPr>
              <a:t>WHAT THIS PROJECT IS ALL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Key Concepts We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2E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UI / UX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Adaptive · themed · animated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2836" y="214884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Networking Layer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Typed · resilient · paginated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214884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2E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Design Patterns &amp; Architecture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VIP / Clean Swift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Industry-Level SDKs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Reusable building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2836" y="42976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2E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Modular Approach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API Client · Image Caching ·
Analytics Adapter · Player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42976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1A2244"/>
          </a:solidFill>
          <a:ln w="317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Test Cases</a:t>
            </a:r>
          </a:p>
          <a:p>
            <a:pPr algn="ctr"/>
            <a:r>
              <a:rPr sz="1150">
                <a:solidFill>
                  <a:srgbClr val="2ED5C4"/>
                </a:solidFill>
                <a:latin typeface="Helvetica Neue"/>
              </a:rPr>
              <a:t>Business logic — full coverage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3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3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2F4FB"/>
                </a:solidFill>
                <a:latin typeface="Helvetica Neue"/>
              </a:rPr>
              <a:t>A complete, API-backed anime browser — shipped end to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68880"/>
            <a:ext cx="2029968" cy="237744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68880"/>
            <a:ext cx="2029968" cy="82296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51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127248"/>
            <a:ext cx="16276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Validated sign-in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Persistent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2468880"/>
            <a:ext cx="2029968" cy="237744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99232" y="2468880"/>
            <a:ext cx="2029968" cy="82296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Home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27248"/>
            <a:ext cx="16276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Featured banner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Genre carousels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Infinite scroll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468880"/>
            <a:ext cx="2029968" cy="237744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9784" y="2468880"/>
            <a:ext cx="2029968" cy="82296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2651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127248"/>
            <a:ext cx="16276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Instant, debounced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Paginated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468880"/>
            <a:ext cx="2029968" cy="237744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0336" y="2468880"/>
            <a:ext cx="2029968" cy="82296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651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Detail + Trailer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127248"/>
            <a:ext cx="16276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Synopsis &amp; cast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In-app trailer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Character profiles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0888" y="2468880"/>
            <a:ext cx="2029968" cy="237744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90888" y="2468880"/>
            <a:ext cx="2029968" cy="82296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2651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Theming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3127248"/>
            <a:ext cx="16276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Light / Dark / Auto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A9B2D0"/>
                </a:solidFill>
                <a:latin typeface="Helvetica Neue"/>
              </a:rPr>
              <a:t>Instant switching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A real product feel — not just a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UI /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Adaptive layouts that adjust across device sizes and orientations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Light / Dark / Auto theming with instant switching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Smooth entrance animations and shimmer loading states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Flicker-free list updates using diffable data sources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Localization-ready text and accessibility-minded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A polished, responsive experience that feels truly native.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Networking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A typed, reusable API client covering every endpoint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Automatic retries and backoff for flaky networks and rate limits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Seamless pagination powering infinite scroll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Clean separation between raw API data and clean app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Reliable data loading that gracefully handles real-world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Design Patterns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00">
                <a:solidFill>
                  <a:srgbClr val="F2F4FB"/>
                </a:solidFill>
                <a:latin typeface="Helvetica Neue"/>
              </a:rPr>
              <a:t>▸  VIP / Clean Swift — a clear separation of concerns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F2F4FB"/>
                </a:solidFill>
                <a:latin typeface="Helvetica Neue"/>
              </a:rPr>
              <a:t>▸  Every feature follows the same predictable structure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F2F4FB"/>
                </a:solidFill>
                <a:latin typeface="Helvetica Neue"/>
              </a:rPr>
              <a:t>▸  Proven patterns: Singleton, Facade, Adapter, Observer, Strategy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F2F4FB"/>
                </a:solidFill>
                <a:latin typeface="Helvetica Neue"/>
              </a:rPr>
              <a:t>▸  Protocol-driven boundaries make code easy to test and extend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965960"/>
            <a:ext cx="3931920" cy="822960"/>
          </a:xfrm>
          <a:prstGeom prst="rect">
            <a:avLst/>
          </a:prstGeom>
          <a:solidFill>
            <a:srgbClr val="1A2244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31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017520"/>
            <a:ext cx="3931920" cy="822960"/>
          </a:xfrm>
          <a:prstGeom prst="rect">
            <a:avLst/>
          </a:prstGeom>
          <a:solidFill>
            <a:srgbClr val="1A2244"/>
          </a:solidFill>
          <a:ln w="12700">
            <a:solidFill>
              <a:srgbClr val="2E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017520"/>
            <a:ext cx="3931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Interactor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069080"/>
            <a:ext cx="3931920" cy="822960"/>
          </a:xfrm>
          <a:prstGeom prst="rect">
            <a:avLst/>
          </a:prstGeom>
          <a:solidFill>
            <a:srgbClr val="1A2244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069080"/>
            <a:ext cx="3931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Presenter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1206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A9B2D0"/>
                </a:solidFill>
                <a:latin typeface="Helvetica Neue"/>
              </a:rPr>
              <a:t>predictable, testable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A scalable codebase that is easy to grow and maintain.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ENGINEERING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2F4FB"/>
                </a:solidFill>
                <a:latin typeface="Helvetica Neue"/>
              </a:rPr>
              <a:t>The whole app is designed around three core principles of good software.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3383280" cy="3200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31720"/>
            <a:ext cx="3383280" cy="6400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142E"/>
                </a:solidFill>
                <a:latin typeface="Helvetica Neue"/>
              </a:rPr>
              <a:t>MAINTAINABLE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00400"/>
            <a:ext cx="287121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Clear separation of concerns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Consistent module structure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No massive view controllers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Easy to read and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331720"/>
            <a:ext cx="3383280" cy="3200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2331720"/>
            <a:ext cx="3383280" cy="6400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404872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142E"/>
                </a:solidFill>
                <a:latin typeface="Helvetica Neue"/>
              </a:rPr>
              <a:t>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200400"/>
            <a:ext cx="287121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Add features without breaking others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Reusable, modular SPM packages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Same pattern for every screen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Grows with the 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331720"/>
            <a:ext cx="3383280" cy="3200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2331720"/>
            <a:ext cx="3383280" cy="6400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2404872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F142E"/>
                </a:solidFill>
                <a:latin typeface="Helvetica Neue"/>
              </a:rPr>
              <a:t>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200400"/>
            <a:ext cx="287121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Resilient networking &amp; retries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Full business-logic test coverage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Predictable data flow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2F4FB"/>
                </a:solidFill>
                <a:latin typeface="Helvetica Neue"/>
              </a:rPr>
              <a:t>•  Safe to ship and refactor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Engineering that holds up as the app and team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CONCEPT 4 &amp;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Industry-Level SDKs &amp; Modular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2F4FB"/>
                </a:solidFill>
                <a:latin typeface="Helvetica Neue"/>
              </a:rPr>
              <a:t>Self-contained, reusable modules — the way real products are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5029200" cy="118872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31720"/>
            <a:ext cx="109728" cy="118872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API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008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Helvetica Neue"/>
              </a:rPr>
              <a:t>Typed networking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331720"/>
            <a:ext cx="5029200" cy="118872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331720"/>
            <a:ext cx="109728" cy="11887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Image Downloader &amp; Caching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9008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Helvetica Neue"/>
              </a:rPr>
              <a:t>Fast, smooth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749040"/>
            <a:ext cx="5029200" cy="118872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749040"/>
            <a:ext cx="109728" cy="118872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Analytics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0740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Helvetica Neue"/>
              </a:rPr>
              <a:t>Pluggable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49040"/>
            <a:ext cx="5029200" cy="118872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49040"/>
            <a:ext cx="109728" cy="11887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Player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0740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Helvetica Neue"/>
              </a:rPr>
              <a:t>In-app video &amp; trailers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Reusable building blocks that mirror professional engineering.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MODULAR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Analytics 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One event bus feeding many providers (Console, MixPanel, Firebase)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Swap or add analytics tools without touching feature code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Privacy-by-design: anonymous IDs, never personal data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Full funnel tracked: launch → login → browse →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Insight into user behavior with zero vendor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MODULAR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Image Downloading &amp;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In-memory caching avoids re-downloading the same images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Smart de-duplication of identical in-flight requests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Off-main-thread decoding for buttery-smooth scrolling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Auto-cancel on cell reuse — never the wrong or stale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Fast, smooth image-heavy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MODULAR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Player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In-app trailer and video playback</a:t>
            </a:r>
          </a:p>
          <a:p>
            <a:pPr>
              <a:spcAft>
                <a:spcPts val="20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Custom controls, fullscreen, and YouTube trailers</a:t>
            </a:r>
          </a:p>
          <a:p>
            <a:pPr>
              <a:spcAft>
                <a:spcPts val="20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Reusable across any screen in the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Rich media — without ever leaving the 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CONCEPT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Test Cases — Full Business-Logic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All business logic is unit-tested (Interactors &amp; Presenters)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Mocks and spies isolate each layer cleanly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Real API-shaped JSON fixtures — tests run with no network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F2F4FB"/>
                </a:solidFill>
                <a:latin typeface="Helvetica Neue"/>
              </a:rPr>
              <a:t>▸  Fast, deterministic, and repeatable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760720"/>
            <a:ext cx="146304" cy="45720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733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1">
                <a:solidFill>
                  <a:srgbClr val="2ED5C4"/>
                </a:solidFill>
                <a:latin typeface="Helvetica Neue"/>
              </a:rPr>
              <a:t>Outcome:  Confidence to ship and refactor safely.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Skills &amp; Concepts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828800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Clean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712" y="1828800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3712" y="1828800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828800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Protocol-Oriented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8744" y="1828800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828800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1828800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Swift Concurrency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862072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862072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862072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Modular SPM Packages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2862072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2862072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2862072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Dependency Injection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2862072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2862072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4776" y="2862072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Networking &amp; 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895344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3895344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895344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Caching Strategies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3895344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53712" y="3895344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3895344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Analytics &amp; Privacy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3895344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3895344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3895344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Unit 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928616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4928616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712" y="4928616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UI / UX &amp; Theming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3712" y="4928616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3712" y="4928616"/>
            <a:ext cx="91440" cy="86868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9744" y="4928616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Design Patterns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4928616"/>
            <a:ext cx="3520440" cy="86868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38744" y="4928616"/>
            <a:ext cx="91440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4928616"/>
            <a:ext cx="3154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2F4FB"/>
                </a:solidFill>
                <a:latin typeface="Helvetica Neue"/>
              </a:rPr>
              <a:t>Media Playback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D5C4"/>
                </a:solidFill>
                <a:latin typeface="Helvetica Neue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4FB"/>
                </a:solidFill>
                <a:latin typeface="Helvetica Neue"/>
              </a:rPr>
              <a:t>Outcome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A9B2D0"/>
                </a:solidFill>
                <a:latin typeface="Helvetica Neue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81328"/>
            <a:ext cx="10469880" cy="25400"/>
          </a:xfrm>
          <a:prstGeom prst="rect">
            <a:avLst/>
          </a:prstGeom>
          <a:solidFill>
            <a:srgbClr val="1A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2468880" cy="77724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19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2F4FB"/>
                </a:solidFill>
                <a:latin typeface="Helvetica Neue"/>
              </a:rPr>
              <a:t>A complete, production-style iOS app, end to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880359"/>
            <a:ext cx="2468880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59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Architected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59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2F4FB"/>
                </a:solidFill>
                <a:latin typeface="Helvetica Neue"/>
              </a:rPr>
              <a:t>Modular, testable, and scalable by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199"/>
            <a:ext cx="2468880" cy="777240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86199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Reusable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86199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2F4FB"/>
                </a:solidFill>
                <a:latin typeface="Helvetica Neue"/>
              </a:rPr>
              <a:t>SDKs and modules that mirror industry practice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92039"/>
            <a:ext cx="2468880" cy="777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39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892039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2F4FB"/>
                </a:solidFill>
                <a:latin typeface="Helvetica Neue"/>
              </a:rPr>
              <a:t>Strong engineering fundamentals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ED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Helvetica Neu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2ED5C4"/>
                </a:solidFill>
                <a:latin typeface="Helvetica Neue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